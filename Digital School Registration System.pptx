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>
  <p:sldMasterIdLst>
    <p:sldMasterId id="2147483648" r:id="rId1"/>
  </p:sldMasterIdLst>
  <p:notesMasterIdLst>
    <p:notesMasterId r:id="rId1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12192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367143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2203501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/>
            </a:fld>
            <a:endParaRPr lang="en-US"/>
          </a:p>
        </p:txBody>
      </p:sp>
      <p:sp>
        <p:nvSpPr>
          <p:cNvPr id="9018405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51434256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355820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953948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39728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4631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966749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81717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748054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92610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26158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132167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74330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14458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504663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673827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71701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413036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668932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47495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628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169432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62143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99823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65393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38607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04157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826407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62731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46484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117766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8F9F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8021046" name="Image 0" descr="logo.jp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225796" y="822960"/>
            <a:ext cx="1737360" cy="1737360"/>
          </a:xfrm>
          <a:prstGeom prst="rect">
            <a:avLst/>
          </a:prstGeom>
        </p:spPr>
      </p:pic>
      <p:sp>
        <p:nvSpPr>
          <p:cNvPr id="1488888491" name="Shape 0"/>
          <p:cNvSpPr/>
          <p:nvPr/>
        </p:nvSpPr>
        <p:spPr bwMode="auto">
          <a:xfrm>
            <a:off x="5088636" y="2880360"/>
            <a:ext cx="2011680" cy="54864"/>
          </a:xfrm>
          <a:prstGeom prst="rect">
            <a:avLst/>
          </a:prstGeom>
          <a:solidFill>
            <a:srgbClr val="F5B800"/>
          </a:solidFill>
        </p:spPr>
      </p:sp>
      <p:sp>
        <p:nvSpPr>
          <p:cNvPr id="1135795976" name="Text 1"/>
          <p:cNvSpPr txBox="1"/>
          <p:nvPr/>
        </p:nvSpPr>
        <p:spPr bwMode="auto">
          <a:xfrm>
            <a:off x="0" y="3063240"/>
            <a:ext cx="12188952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 b="1" spc="200">
                <a:solidFill>
                  <a:srgbClr val="D4A000"/>
                </a:solidFill>
                <a:latin typeface="Arial"/>
                <a:ea typeface="Arial"/>
                <a:cs typeface="Arial"/>
              </a:rPr>
              <a:t>SCHOOL ASSEMBLY PRESENTATION</a:t>
            </a:r>
            <a:endParaRPr lang="en-US" sz="1400"/>
          </a:p>
        </p:txBody>
      </p:sp>
      <p:sp>
        <p:nvSpPr>
          <p:cNvPr id="72702961" name="Text 2"/>
          <p:cNvSpPr txBox="1"/>
          <p:nvPr/>
        </p:nvSpPr>
        <p:spPr bwMode="auto">
          <a:xfrm>
            <a:off x="731520" y="3429000"/>
            <a:ext cx="10725912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4000" b="1">
                <a:solidFill>
                  <a:srgbClr val="005A2B"/>
                </a:solidFill>
                <a:latin typeface="Arial"/>
                <a:ea typeface="Arial"/>
                <a:cs typeface="Arial"/>
              </a:rPr>
              <a:t>Digital School Registration System</a:t>
            </a:r>
            <a:endParaRPr lang="en-US" sz="4000"/>
          </a:p>
        </p:txBody>
      </p:sp>
      <p:sp>
        <p:nvSpPr>
          <p:cNvPr id="971019595" name="Text 3"/>
          <p:cNvSpPr txBox="1"/>
          <p:nvPr/>
        </p:nvSpPr>
        <p:spPr bwMode="auto">
          <a:xfrm>
            <a:off x="914400" y="4434840"/>
            <a:ext cx="10360152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800">
                <a:solidFill>
                  <a:srgbClr val="1A2B22"/>
                </a:solidFill>
                <a:latin typeface="Arial"/>
                <a:ea typeface="Arial"/>
                <a:cs typeface="Arial"/>
              </a:rPr>
              <a:t>Modernizing Our School Administration &amp; Student Management</a:t>
            </a:r>
            <a:endParaRPr lang="en-US" sz="1800"/>
          </a:p>
        </p:txBody>
      </p:sp>
      <p:sp>
        <p:nvSpPr>
          <p:cNvPr id="159030260" name="Text 4"/>
          <p:cNvSpPr txBox="1"/>
          <p:nvPr/>
        </p:nvSpPr>
        <p:spPr bwMode="auto">
          <a:xfrm>
            <a:off x="914400" y="5120640"/>
            <a:ext cx="103601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D4A000"/>
                </a:solidFill>
                <a:latin typeface="Arial"/>
                <a:ea typeface="Arial"/>
                <a:cs typeface="Arial"/>
              </a:rPr>
              <a:t>Presented by Mihitha Isiwara &amp; Tasheen Dilshara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fast" p14:dur="500" advClick="1">
        <p:fade thruBlk="0"/>
      </p:transition>
    </mc:Choice>
    <mc:Fallback>
      <p:transition spd="fast" advClick="1">
        <p:fade thruBlk="0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0194562" name="Text 0"/>
          <p:cNvSpPr txBox="1"/>
          <p:nvPr/>
        </p:nvSpPr>
        <p:spPr bwMode="auto"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spc="200">
                <a:solidFill>
                  <a:srgbClr val="D4A000"/>
                </a:solidFill>
                <a:latin typeface="Arial"/>
                <a:ea typeface="Arial"/>
                <a:cs typeface="Arial"/>
              </a:rPr>
              <a:t>PURPOSE &amp; VISION</a:t>
            </a:r>
            <a:endParaRPr lang="en-US" sz="1300"/>
          </a:p>
        </p:txBody>
      </p:sp>
      <p:sp>
        <p:nvSpPr>
          <p:cNvPr id="1310246386" name="Text 1"/>
          <p:cNvSpPr txBox="1"/>
          <p:nvPr/>
        </p:nvSpPr>
        <p:spPr bwMode="auto">
          <a:xfrm>
            <a:off x="548640" y="658368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005A2B"/>
                </a:solidFill>
                <a:latin typeface="Arial"/>
                <a:ea typeface="Arial"/>
                <a:cs typeface="Arial"/>
              </a:rPr>
              <a:t>From Paper to Digital Efficiency</a:t>
            </a:r>
            <a:endParaRPr lang="en-US" sz="3200"/>
          </a:p>
        </p:txBody>
      </p:sp>
      <p:sp>
        <p:nvSpPr>
          <p:cNvPr id="9215917" name="Text 2"/>
          <p:cNvSpPr txBox="1"/>
          <p:nvPr/>
        </p:nvSpPr>
        <p:spPr bwMode="auto">
          <a:xfrm>
            <a:off x="548640" y="1828800"/>
            <a:ext cx="10515600" cy="2011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54000" indent="-254000">
              <a:spcAft>
                <a:spcPts val="1400"/>
              </a:spcAft>
              <a:buSzPct val="100000"/>
              <a:buChar char="●"/>
              <a:defRPr/>
            </a:pPr>
            <a:r>
              <a:rPr lang="en-US" sz="2000">
                <a:solidFill>
                  <a:srgbClr val="1A2B22"/>
                </a:solidFill>
                <a:latin typeface="Arial"/>
                <a:ea typeface="Arial"/>
                <a:cs typeface="Arial"/>
              </a:rPr>
              <a:t>Why we built this system: speed, security, and modernization</a:t>
            </a:r>
            <a:endParaRPr lang="en-US" sz="2000"/>
          </a:p>
          <a:p>
            <a:pPr marL="254000" indent="-254000">
              <a:spcAft>
                <a:spcPts val="1400"/>
              </a:spcAft>
              <a:buSzPct val="100000"/>
              <a:buChar char="●"/>
              <a:defRPr/>
            </a:pPr>
            <a:r>
              <a:rPr lang="en-US" sz="2000">
                <a:solidFill>
                  <a:srgbClr val="1A2B22"/>
                </a:solidFill>
                <a:latin typeface="Arial"/>
                <a:ea typeface="Arial"/>
                <a:cs typeface="Arial"/>
              </a:rPr>
              <a:t>Eliminating physical paperwork and long queue delays</a:t>
            </a:r>
            <a:endParaRPr lang="en-US" sz="2000"/>
          </a:p>
          <a:p>
            <a:pPr marL="254000" indent="-254000">
              <a:spcAft>
                <a:spcPts val="1400"/>
              </a:spcAft>
              <a:buSzPct val="100000"/>
              <a:buChar char="●"/>
              <a:defRPr/>
            </a:pPr>
            <a:r>
              <a:rPr lang="en-US" sz="2000">
                <a:solidFill>
                  <a:srgbClr val="1A2B22"/>
                </a:solidFill>
                <a:latin typeface="Arial"/>
                <a:ea typeface="Arial"/>
                <a:cs typeface="Arial"/>
              </a:rPr>
              <a:t>Building a centralized hub for modern school administration</a:t>
            </a:r>
            <a:endParaRPr lang="en-US" sz="2000"/>
          </a:p>
        </p:txBody>
      </p:sp>
      <p:sp>
        <p:nvSpPr>
          <p:cNvPr id="217091783" name="Shape 3"/>
          <p:cNvSpPr/>
          <p:nvPr/>
        </p:nvSpPr>
        <p:spPr bwMode="auto">
          <a:xfrm>
            <a:off x="548640" y="4297680"/>
            <a:ext cx="10515600" cy="1097280"/>
          </a:xfrm>
          <a:prstGeom prst="rect">
            <a:avLst/>
          </a:prstGeom>
          <a:solidFill>
            <a:srgbClr val="005A2B"/>
          </a:solidFill>
        </p:spPr>
      </p:sp>
      <p:sp>
        <p:nvSpPr>
          <p:cNvPr id="1191869803" name="Shape 4"/>
          <p:cNvSpPr/>
          <p:nvPr/>
        </p:nvSpPr>
        <p:spPr bwMode="auto">
          <a:xfrm>
            <a:off x="548640" y="4297680"/>
            <a:ext cx="91440" cy="1097280"/>
          </a:xfrm>
          <a:prstGeom prst="rect">
            <a:avLst/>
          </a:prstGeom>
          <a:solidFill>
            <a:srgbClr val="F5B800"/>
          </a:solidFill>
        </p:spPr>
      </p:sp>
      <p:sp>
        <p:nvSpPr>
          <p:cNvPr id="1983551873" name="Text 5"/>
          <p:cNvSpPr txBox="1"/>
          <p:nvPr/>
        </p:nvSpPr>
        <p:spPr bwMode="auto">
          <a:xfrm>
            <a:off x="868680" y="4297680"/>
            <a:ext cx="99669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000" b="1" i="1">
                <a:solidFill>
                  <a:srgbClr val="FFFFFF"/>
                </a:solidFill>
                <a:latin typeface="Arial"/>
                <a:ea typeface="Arial"/>
                <a:cs typeface="Arial"/>
              </a:rPr>
              <a:t>"Technology empowering school operational excellence."</a:t>
            </a:r>
            <a:endParaRPr lang="en-US" sz="2000"/>
          </a:p>
        </p:txBody>
      </p:sp>
      <p:pic>
        <p:nvPicPr>
          <p:cNvPr id="380331631" name="Image 0" descr="logo.jpg"/>
          <p:cNvPicPr>
            <a:picLocks noChangeAspect="1"/>
          </p:cNvPicPr>
          <p:nvPr/>
        </p:nvPicPr>
        <p:blipFill rotWithShape="1">
          <a:blip r:embed="rId3">
            <a:alphaModFix amt="95000"/>
          </a:blip>
          <a:stretch/>
        </p:blipFill>
        <p:spPr bwMode="auto">
          <a:xfrm>
            <a:off x="11137392" y="5806440"/>
            <a:ext cx="777240" cy="7772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159:morph option="byObject"/>
      </p:transition>
    </mc:Choice>
    <mc:Fallback>
      <p:transition spd="slow" advClick="1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6744606" name="Text 0"/>
          <p:cNvSpPr txBox="1"/>
          <p:nvPr/>
        </p:nvSpPr>
        <p:spPr bwMode="auto"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spc="200">
                <a:solidFill>
                  <a:srgbClr val="D4A000"/>
                </a:solidFill>
                <a:latin typeface="Arial"/>
                <a:ea typeface="Arial"/>
                <a:cs typeface="Arial"/>
              </a:rPr>
              <a:t>WHAT IT DOES</a:t>
            </a:r>
            <a:endParaRPr lang="en-US" sz="1300"/>
          </a:p>
        </p:txBody>
      </p:sp>
      <p:sp>
        <p:nvSpPr>
          <p:cNvPr id="833720323" name="Text 1"/>
          <p:cNvSpPr txBox="1"/>
          <p:nvPr/>
        </p:nvSpPr>
        <p:spPr bwMode="auto">
          <a:xfrm>
            <a:off x="548640" y="658368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005A2B"/>
                </a:solidFill>
                <a:latin typeface="Arial"/>
                <a:ea typeface="Arial"/>
                <a:cs typeface="Arial"/>
              </a:rPr>
              <a:t>Key Features Overview</a:t>
            </a:r>
            <a:endParaRPr lang="en-US" sz="3200"/>
          </a:p>
        </p:txBody>
      </p:sp>
      <p:sp>
        <p:nvSpPr>
          <p:cNvPr id="1122267353" name="Shape 2"/>
          <p:cNvSpPr/>
          <p:nvPr/>
        </p:nvSpPr>
        <p:spPr bwMode="auto">
          <a:xfrm>
            <a:off x="548640" y="1965960"/>
            <a:ext cx="3291840" cy="3291840"/>
          </a:xfrm>
          <a:prstGeom prst="rect">
            <a:avLst/>
          </a:prstGeom>
          <a:solidFill>
            <a:srgbClr val="F8F9FA"/>
          </a:solidFill>
        </p:spPr>
      </p:sp>
      <p:sp>
        <p:nvSpPr>
          <p:cNvPr id="157956005" name="Shape 3"/>
          <p:cNvSpPr/>
          <p:nvPr/>
        </p:nvSpPr>
        <p:spPr bwMode="auto">
          <a:xfrm>
            <a:off x="548640" y="1965960"/>
            <a:ext cx="3291840" cy="82296"/>
          </a:xfrm>
          <a:prstGeom prst="rect">
            <a:avLst/>
          </a:prstGeom>
          <a:solidFill>
            <a:srgbClr val="005A2B"/>
          </a:solidFill>
        </p:spPr>
      </p:sp>
      <p:sp>
        <p:nvSpPr>
          <p:cNvPr id="1835124929" name="Text 4"/>
          <p:cNvSpPr txBox="1"/>
          <p:nvPr/>
        </p:nvSpPr>
        <p:spPr bwMode="auto">
          <a:xfrm>
            <a:off x="777240" y="228600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>
                <a:solidFill>
                  <a:srgbClr val="000000"/>
                </a:solidFill>
              </a:rPr>
              <a:t>⚡</a:t>
            </a:r>
            <a:endParaRPr lang="en-US" sz="3000"/>
          </a:p>
        </p:txBody>
      </p:sp>
      <p:sp>
        <p:nvSpPr>
          <p:cNvPr id="1535328589" name="Text 5"/>
          <p:cNvSpPr txBox="1"/>
          <p:nvPr/>
        </p:nvSpPr>
        <p:spPr bwMode="auto">
          <a:xfrm>
            <a:off x="777240" y="3017519"/>
            <a:ext cx="28346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005A2B"/>
                </a:solidFill>
                <a:latin typeface="Arial"/>
                <a:ea typeface="Arial"/>
                <a:cs typeface="Arial"/>
              </a:rPr>
              <a:t>Fast Student Registration</a:t>
            </a:r>
            <a:endParaRPr lang="en-US" sz="1700"/>
          </a:p>
        </p:txBody>
      </p:sp>
      <p:sp>
        <p:nvSpPr>
          <p:cNvPr id="1091723191" name="Text 6"/>
          <p:cNvSpPr txBox="1"/>
          <p:nvPr/>
        </p:nvSpPr>
        <p:spPr bwMode="auto">
          <a:xfrm>
            <a:off x="777240" y="3794760"/>
            <a:ext cx="283464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1A2B22"/>
                </a:solidFill>
                <a:latin typeface="Arial"/>
                <a:ea typeface="Arial"/>
                <a:cs typeface="Arial"/>
              </a:rPr>
              <a:t>Streamlined on-boarding for every grade level.</a:t>
            </a:r>
            <a:endParaRPr lang="en-US" sz="1400"/>
          </a:p>
        </p:txBody>
      </p:sp>
      <p:sp>
        <p:nvSpPr>
          <p:cNvPr id="2025921485" name="Shape 7"/>
          <p:cNvSpPr/>
          <p:nvPr/>
        </p:nvSpPr>
        <p:spPr bwMode="auto">
          <a:xfrm>
            <a:off x="4160519" y="1965960"/>
            <a:ext cx="3291840" cy="3291840"/>
          </a:xfrm>
          <a:prstGeom prst="rect">
            <a:avLst/>
          </a:prstGeom>
          <a:solidFill>
            <a:srgbClr val="F8F9FA"/>
          </a:solidFill>
        </p:spPr>
      </p:sp>
      <p:sp>
        <p:nvSpPr>
          <p:cNvPr id="1495767234" name="Shape 8"/>
          <p:cNvSpPr/>
          <p:nvPr/>
        </p:nvSpPr>
        <p:spPr bwMode="auto">
          <a:xfrm>
            <a:off x="4160519" y="1965960"/>
            <a:ext cx="3291840" cy="82296"/>
          </a:xfrm>
          <a:prstGeom prst="rect">
            <a:avLst/>
          </a:prstGeom>
          <a:solidFill>
            <a:srgbClr val="005A2B"/>
          </a:solidFill>
        </p:spPr>
      </p:sp>
      <p:sp>
        <p:nvSpPr>
          <p:cNvPr id="175924821" name="Text 9"/>
          <p:cNvSpPr txBox="1"/>
          <p:nvPr/>
        </p:nvSpPr>
        <p:spPr bwMode="auto">
          <a:xfrm>
            <a:off x="4389120" y="228600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>
                <a:solidFill>
                  <a:srgbClr val="000000"/>
                </a:solidFill>
              </a:rPr>
              <a:t>📋</a:t>
            </a:r>
            <a:endParaRPr lang="en-US" sz="3000"/>
          </a:p>
        </p:txBody>
      </p:sp>
      <p:sp>
        <p:nvSpPr>
          <p:cNvPr id="1614479337" name="Text 10"/>
          <p:cNvSpPr txBox="1"/>
          <p:nvPr/>
        </p:nvSpPr>
        <p:spPr bwMode="auto">
          <a:xfrm>
            <a:off x="4389120" y="3017519"/>
            <a:ext cx="28346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005A2B"/>
                </a:solidFill>
                <a:latin typeface="Arial"/>
                <a:ea typeface="Arial"/>
                <a:cs typeface="Arial"/>
              </a:rPr>
              <a:t>Assignment &amp; Record Tracking</a:t>
            </a:r>
            <a:endParaRPr lang="en-US" sz="1700"/>
          </a:p>
        </p:txBody>
      </p:sp>
      <p:sp>
        <p:nvSpPr>
          <p:cNvPr id="1153203434" name="Text 11"/>
          <p:cNvSpPr txBox="1"/>
          <p:nvPr/>
        </p:nvSpPr>
        <p:spPr bwMode="auto">
          <a:xfrm>
            <a:off x="4389120" y="3794760"/>
            <a:ext cx="283464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1A2B22"/>
                </a:solidFill>
                <a:latin typeface="Arial"/>
                <a:ea typeface="Arial"/>
                <a:cs typeface="Arial"/>
              </a:rPr>
              <a:t>Instant access to academic schedules and status.</a:t>
            </a:r>
            <a:endParaRPr lang="en-US" sz="1400"/>
          </a:p>
        </p:txBody>
      </p:sp>
      <p:sp>
        <p:nvSpPr>
          <p:cNvPr id="894483486" name="Shape 12"/>
          <p:cNvSpPr/>
          <p:nvPr/>
        </p:nvSpPr>
        <p:spPr bwMode="auto">
          <a:xfrm>
            <a:off x="7772400" y="1965960"/>
            <a:ext cx="3291840" cy="3291840"/>
          </a:xfrm>
          <a:prstGeom prst="rect">
            <a:avLst/>
          </a:prstGeom>
          <a:solidFill>
            <a:srgbClr val="F8F9FA"/>
          </a:solidFill>
        </p:spPr>
      </p:sp>
      <p:sp>
        <p:nvSpPr>
          <p:cNvPr id="642835658" name="Shape 13"/>
          <p:cNvSpPr/>
          <p:nvPr/>
        </p:nvSpPr>
        <p:spPr bwMode="auto">
          <a:xfrm>
            <a:off x="7772400" y="1965960"/>
            <a:ext cx="3291840" cy="82296"/>
          </a:xfrm>
          <a:prstGeom prst="rect">
            <a:avLst/>
          </a:prstGeom>
          <a:solidFill>
            <a:srgbClr val="005A2B"/>
          </a:solidFill>
        </p:spPr>
      </p:sp>
      <p:sp>
        <p:nvSpPr>
          <p:cNvPr id="2012928477" name="Text 14"/>
          <p:cNvSpPr txBox="1"/>
          <p:nvPr/>
        </p:nvSpPr>
        <p:spPr bwMode="auto">
          <a:xfrm>
            <a:off x="8001000" y="2286000"/>
            <a:ext cx="914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>
                <a:solidFill>
                  <a:srgbClr val="000000"/>
                </a:solidFill>
              </a:rPr>
              <a:t>🔒</a:t>
            </a:r>
            <a:endParaRPr lang="en-US" sz="3000"/>
          </a:p>
        </p:txBody>
      </p:sp>
      <p:sp>
        <p:nvSpPr>
          <p:cNvPr id="894932665" name="Text 15"/>
          <p:cNvSpPr txBox="1"/>
          <p:nvPr/>
        </p:nvSpPr>
        <p:spPr bwMode="auto">
          <a:xfrm>
            <a:off x="8001000" y="3017519"/>
            <a:ext cx="28346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700" b="1">
                <a:solidFill>
                  <a:srgbClr val="005A2B"/>
                </a:solidFill>
                <a:latin typeface="Arial"/>
                <a:ea typeface="Arial"/>
                <a:cs typeface="Arial"/>
              </a:rPr>
              <a:t>Accessible &amp; Secure Database</a:t>
            </a:r>
            <a:endParaRPr lang="en-US" sz="1700"/>
          </a:p>
        </p:txBody>
      </p:sp>
      <p:sp>
        <p:nvSpPr>
          <p:cNvPr id="1365163990" name="Text 16"/>
          <p:cNvSpPr txBox="1"/>
          <p:nvPr/>
        </p:nvSpPr>
        <p:spPr bwMode="auto">
          <a:xfrm>
            <a:off x="8001000" y="3794760"/>
            <a:ext cx="283464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>
                <a:solidFill>
                  <a:srgbClr val="1A2B22"/>
                </a:solidFill>
                <a:latin typeface="Arial"/>
                <a:ea typeface="Arial"/>
                <a:cs typeface="Arial"/>
              </a:rPr>
              <a:t>Instant verification using your REGID.</a:t>
            </a:r>
            <a:endParaRPr lang="en-US" sz="1400"/>
          </a:p>
        </p:txBody>
      </p:sp>
      <p:pic>
        <p:nvPicPr>
          <p:cNvPr id="1201703751" name="Image 0" descr="logo.jpg"/>
          <p:cNvPicPr>
            <a:picLocks noChangeAspect="1"/>
          </p:cNvPicPr>
          <p:nvPr/>
        </p:nvPicPr>
        <p:blipFill rotWithShape="1">
          <a:blip r:embed="rId3">
            <a:alphaModFix amt="95000"/>
          </a:blip>
          <a:stretch/>
        </p:blipFill>
        <p:spPr bwMode="auto">
          <a:xfrm>
            <a:off x="11137392" y="5806440"/>
            <a:ext cx="777240" cy="7772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159:morph option="byObject"/>
      </p:transition>
    </mc:Choice>
    <mc:Fallback>
      <p:transition spd="slow" advClick="1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9681443" name="Text 0"/>
          <p:cNvSpPr txBox="1"/>
          <p:nvPr/>
        </p:nvSpPr>
        <p:spPr bwMode="auto"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spc="200">
                <a:solidFill>
                  <a:srgbClr val="D4A000"/>
                </a:solidFill>
                <a:latin typeface="Arial"/>
                <a:ea typeface="Arial"/>
                <a:cs typeface="Arial"/>
              </a:rPr>
              <a:t>LIVE ACCESS</a:t>
            </a:r>
            <a:endParaRPr lang="en-US" sz="1300"/>
          </a:p>
        </p:txBody>
      </p:sp>
      <p:sp>
        <p:nvSpPr>
          <p:cNvPr id="413298772" name="Text 1"/>
          <p:cNvSpPr txBox="1"/>
          <p:nvPr/>
        </p:nvSpPr>
        <p:spPr bwMode="auto">
          <a:xfrm>
            <a:off x="548640" y="658368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005A2B"/>
                </a:solidFill>
                <a:latin typeface="Arial"/>
                <a:ea typeface="Arial"/>
                <a:cs typeface="Arial"/>
              </a:rPr>
              <a:t>Check The Website</a:t>
            </a:r>
            <a:endParaRPr lang="en-US" sz="3200"/>
          </a:p>
        </p:txBody>
      </p:sp>
      <p:sp>
        <p:nvSpPr>
          <p:cNvPr id="795927480" name="Shape 2"/>
          <p:cNvSpPr/>
          <p:nvPr/>
        </p:nvSpPr>
        <p:spPr bwMode="auto">
          <a:xfrm>
            <a:off x="548640" y="1828800"/>
            <a:ext cx="10515600" cy="960120"/>
          </a:xfrm>
          <a:prstGeom prst="rect">
            <a:avLst/>
          </a:prstGeom>
          <a:solidFill>
            <a:srgbClr val="F8F9FA"/>
          </a:solidFill>
          <a:ln w="31750">
            <a:solidFill>
              <a:srgbClr val="F5B800"/>
            </a:solidFill>
            <a:prstDash val="solid"/>
          </a:ln>
        </p:spPr>
      </p:sp>
      <p:sp>
        <p:nvSpPr>
          <p:cNvPr id="412417646" name="Text 3"/>
          <p:cNvSpPr txBox="1"/>
          <p:nvPr/>
        </p:nvSpPr>
        <p:spPr bwMode="auto">
          <a:xfrm>
            <a:off x="868680" y="1920240"/>
            <a:ext cx="9875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100">
                <a:solidFill>
                  <a:srgbClr val="005A2B"/>
                </a:solidFill>
                <a:latin typeface="Arial"/>
                <a:ea typeface="Arial"/>
                <a:cs typeface="Arial"/>
              </a:rPr>
              <a:t>MAIN PORTAL</a:t>
            </a:r>
            <a:endParaRPr lang="en-US" sz="1200"/>
          </a:p>
        </p:txBody>
      </p:sp>
      <p:sp>
        <p:nvSpPr>
          <p:cNvPr id="1803286263" name="Text 4"/>
          <p:cNvSpPr txBox="1"/>
          <p:nvPr/>
        </p:nvSpPr>
        <p:spPr bwMode="auto">
          <a:xfrm>
            <a:off x="868680" y="2212848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D4A000"/>
                </a:solidFill>
                <a:latin typeface="Arial"/>
                <a:ea typeface="Arial"/>
                <a:cs typeface="Arial"/>
              </a:rPr>
              <a:t>gaminireg123.up.railway.app</a:t>
            </a:r>
            <a:endParaRPr lang="en-US" sz="2000"/>
          </a:p>
        </p:txBody>
      </p:sp>
      <p:sp>
        <p:nvSpPr>
          <p:cNvPr id="1776170009" name="Shape 5"/>
          <p:cNvSpPr/>
          <p:nvPr/>
        </p:nvSpPr>
        <p:spPr bwMode="auto">
          <a:xfrm>
            <a:off x="548640" y="2971800"/>
            <a:ext cx="10515600" cy="960120"/>
          </a:xfrm>
          <a:prstGeom prst="rect">
            <a:avLst/>
          </a:prstGeom>
          <a:solidFill>
            <a:srgbClr val="F8F9FA"/>
          </a:solidFill>
          <a:ln w="31750">
            <a:solidFill>
              <a:srgbClr val="F5B800"/>
            </a:solidFill>
            <a:prstDash val="solid"/>
          </a:ln>
        </p:spPr>
      </p:sp>
      <p:sp>
        <p:nvSpPr>
          <p:cNvPr id="871745538" name="Text 6"/>
          <p:cNvSpPr txBox="1"/>
          <p:nvPr/>
        </p:nvSpPr>
        <p:spPr bwMode="auto">
          <a:xfrm>
            <a:off x="868680" y="3063240"/>
            <a:ext cx="9875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 spc="100">
                <a:solidFill>
                  <a:srgbClr val="005A2B"/>
                </a:solidFill>
                <a:latin typeface="Arial"/>
                <a:ea typeface="Arial"/>
                <a:cs typeface="Arial"/>
              </a:rPr>
              <a:t>STAFF REGISTRATION PORTAL</a:t>
            </a:r>
            <a:endParaRPr lang="en-US" sz="1200"/>
          </a:p>
        </p:txBody>
      </p:sp>
      <p:sp>
        <p:nvSpPr>
          <p:cNvPr id="715193493" name="Text 7"/>
          <p:cNvSpPr txBox="1"/>
          <p:nvPr/>
        </p:nvSpPr>
        <p:spPr bwMode="auto">
          <a:xfrm>
            <a:off x="868680" y="3355848"/>
            <a:ext cx="9875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D4A000"/>
                </a:solidFill>
                <a:latin typeface="Arial"/>
                <a:ea typeface="Arial"/>
                <a:cs typeface="Arial"/>
              </a:rPr>
              <a:t>gaminireg123.up.railway.app/DB/5</a:t>
            </a:r>
            <a:endParaRPr lang="en-US" sz="2000"/>
          </a:p>
        </p:txBody>
      </p:sp>
      <p:sp>
        <p:nvSpPr>
          <p:cNvPr id="1371692086" name="Shape 8"/>
          <p:cNvSpPr/>
          <p:nvPr/>
        </p:nvSpPr>
        <p:spPr bwMode="auto">
          <a:xfrm>
            <a:off x="548640" y="4297680"/>
            <a:ext cx="10515600" cy="1097280"/>
          </a:xfrm>
          <a:prstGeom prst="rect">
            <a:avLst/>
          </a:prstGeom>
          <a:solidFill>
            <a:srgbClr val="005A2B"/>
          </a:solidFill>
        </p:spPr>
      </p:sp>
      <p:sp>
        <p:nvSpPr>
          <p:cNvPr id="1125647139" name="Shape 9"/>
          <p:cNvSpPr/>
          <p:nvPr/>
        </p:nvSpPr>
        <p:spPr bwMode="auto">
          <a:xfrm>
            <a:off x="548640" y="4297680"/>
            <a:ext cx="91440" cy="1097280"/>
          </a:xfrm>
          <a:prstGeom prst="rect">
            <a:avLst/>
          </a:prstGeom>
          <a:solidFill>
            <a:srgbClr val="F5B800"/>
          </a:solidFill>
        </p:spPr>
      </p:sp>
      <p:sp>
        <p:nvSpPr>
          <p:cNvPr id="1392432436" name="Text 10"/>
          <p:cNvSpPr txBox="1"/>
          <p:nvPr/>
        </p:nvSpPr>
        <p:spPr bwMode="auto">
          <a:xfrm>
            <a:off x="868680" y="4297680"/>
            <a:ext cx="99669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Login simplified — access your records directly using your REGID. No password required.</a:t>
            </a:r>
            <a:endParaRPr lang="en-US" sz="1800"/>
          </a:p>
        </p:txBody>
      </p:sp>
      <p:pic>
        <p:nvPicPr>
          <p:cNvPr id="6592524" name="Image 0" descr="logo.jpg"/>
          <p:cNvPicPr>
            <a:picLocks noChangeAspect="1"/>
          </p:cNvPicPr>
          <p:nvPr/>
        </p:nvPicPr>
        <p:blipFill rotWithShape="1">
          <a:blip r:embed="rId3">
            <a:alphaModFix amt="95000"/>
          </a:blip>
          <a:stretch/>
        </p:blipFill>
        <p:spPr bwMode="auto">
          <a:xfrm>
            <a:off x="11137392" y="5806440"/>
            <a:ext cx="777240" cy="7772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159:morph option="byObject"/>
      </p:transition>
    </mc:Choice>
    <mc:Fallback>
      <p:transition spd="slow" advClick="1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6214811" name="Text 0"/>
          <p:cNvSpPr txBox="1"/>
          <p:nvPr/>
        </p:nvSpPr>
        <p:spPr bwMode="auto"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spc="200">
                <a:solidFill>
                  <a:srgbClr val="D4A000"/>
                </a:solidFill>
                <a:latin typeface="Arial"/>
                <a:ea typeface="Arial"/>
                <a:cs typeface="Arial"/>
              </a:rPr>
              <a:t>HOW IT WORKS</a:t>
            </a:r>
            <a:endParaRPr lang="en-US" sz="1300"/>
          </a:p>
        </p:txBody>
      </p:sp>
      <p:sp>
        <p:nvSpPr>
          <p:cNvPr id="1033210438" name="Text 1"/>
          <p:cNvSpPr txBox="1"/>
          <p:nvPr/>
        </p:nvSpPr>
        <p:spPr bwMode="auto">
          <a:xfrm>
            <a:off x="548640" y="658368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005A2B"/>
                </a:solidFill>
                <a:latin typeface="Arial"/>
                <a:ea typeface="Arial"/>
                <a:cs typeface="Arial"/>
              </a:rPr>
              <a:t>Under the Hood</a:t>
            </a:r>
            <a:endParaRPr lang="en-US" sz="3200"/>
          </a:p>
        </p:txBody>
      </p:sp>
      <p:sp>
        <p:nvSpPr>
          <p:cNvPr id="521194149" name="Text 2"/>
          <p:cNvSpPr txBox="1"/>
          <p:nvPr/>
        </p:nvSpPr>
        <p:spPr bwMode="auto">
          <a:xfrm>
            <a:off x="548640" y="2011680"/>
            <a:ext cx="10515600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54000" indent="-254000">
              <a:spcAft>
                <a:spcPts val="1800"/>
              </a:spcAft>
              <a:buSzPct val="100000"/>
              <a:buChar char="●"/>
              <a:defRPr/>
            </a:pPr>
            <a:r>
              <a:rPr lang="en-US" sz="2100">
                <a:solidFill>
                  <a:srgbClr val="1A2B22"/>
                </a:solidFill>
                <a:latin typeface="Arial"/>
                <a:ea typeface="Arial"/>
                <a:cs typeface="Arial"/>
              </a:rPr>
              <a:t>Fast, reliable backend infrastructure hosted live on Railway</a:t>
            </a:r>
            <a:endParaRPr lang="en-US" sz="2100"/>
          </a:p>
          <a:p>
            <a:pPr marL="254000" indent="-254000">
              <a:spcAft>
                <a:spcPts val="1800"/>
              </a:spcAft>
              <a:buSzPct val="100000"/>
              <a:buChar char="●"/>
              <a:defRPr/>
            </a:pPr>
            <a:r>
              <a:rPr lang="en-US" sz="2100">
                <a:solidFill>
                  <a:srgbClr val="1A2B22"/>
                </a:solidFill>
                <a:latin typeface="Arial"/>
                <a:ea typeface="Arial"/>
                <a:cs typeface="Arial"/>
              </a:rPr>
              <a:t>Streamlined database structure for instant record queries</a:t>
            </a:r>
            <a:endParaRPr lang="en-US" sz="2100"/>
          </a:p>
          <a:p>
            <a:pPr marL="254000" indent="-254000">
              <a:spcAft>
                <a:spcPts val="1800"/>
              </a:spcAft>
              <a:buSzPct val="100000"/>
              <a:buChar char="●"/>
              <a:defRPr/>
            </a:pPr>
            <a:r>
              <a:rPr lang="en-US" sz="2100">
                <a:solidFill>
                  <a:srgbClr val="1A2B22"/>
                </a:solidFill>
                <a:latin typeface="Arial"/>
                <a:ea typeface="Arial"/>
                <a:cs typeface="Arial"/>
              </a:rPr>
              <a:t>Built using modern web technologies for maximum performance</a:t>
            </a:r>
            <a:endParaRPr lang="en-US" sz="2100"/>
          </a:p>
        </p:txBody>
      </p:sp>
      <p:pic>
        <p:nvPicPr>
          <p:cNvPr id="535595578" name="Image 0" descr="logo.jpg"/>
          <p:cNvPicPr>
            <a:picLocks noChangeAspect="1"/>
          </p:cNvPicPr>
          <p:nvPr/>
        </p:nvPicPr>
        <p:blipFill rotWithShape="1">
          <a:blip r:embed="rId3">
            <a:alphaModFix amt="95000"/>
          </a:blip>
          <a:stretch/>
        </p:blipFill>
        <p:spPr bwMode="auto">
          <a:xfrm>
            <a:off x="11137392" y="5806440"/>
            <a:ext cx="777240" cy="7772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159:morph option="byObject"/>
      </p:transition>
    </mc:Choice>
    <mc:Fallback>
      <p:transition spd="slow" advClick="1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406003" name="Text 0"/>
          <p:cNvSpPr txBox="1"/>
          <p:nvPr/>
        </p:nvSpPr>
        <p:spPr bwMode="auto"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spc="200">
                <a:solidFill>
                  <a:srgbClr val="D4A000"/>
                </a:solidFill>
                <a:latin typeface="Arial"/>
                <a:ea typeface="Arial"/>
                <a:cs typeface="Arial"/>
              </a:rPr>
              <a:t>WHO BENEFITS</a:t>
            </a:r>
            <a:endParaRPr lang="en-US" sz="1300"/>
          </a:p>
        </p:txBody>
      </p:sp>
      <p:sp>
        <p:nvSpPr>
          <p:cNvPr id="1354724147" name="Text 1"/>
          <p:cNvSpPr txBox="1"/>
          <p:nvPr/>
        </p:nvSpPr>
        <p:spPr bwMode="auto">
          <a:xfrm>
            <a:off x="548640" y="658368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005A2B"/>
                </a:solidFill>
                <a:latin typeface="Arial"/>
                <a:ea typeface="Arial"/>
                <a:cs typeface="Arial"/>
              </a:rPr>
              <a:t>Benefits for Students &amp; Teachers</a:t>
            </a:r>
            <a:endParaRPr lang="en-US" sz="3200"/>
          </a:p>
        </p:txBody>
      </p:sp>
      <p:sp>
        <p:nvSpPr>
          <p:cNvPr id="1667881741" name="Shape 2"/>
          <p:cNvSpPr/>
          <p:nvPr/>
        </p:nvSpPr>
        <p:spPr bwMode="auto">
          <a:xfrm>
            <a:off x="548640" y="1920240"/>
            <a:ext cx="5120640" cy="3840480"/>
          </a:xfrm>
          <a:prstGeom prst="rect">
            <a:avLst/>
          </a:prstGeom>
          <a:solidFill>
            <a:srgbClr val="F8F9FA"/>
          </a:solidFill>
        </p:spPr>
      </p:sp>
      <p:sp>
        <p:nvSpPr>
          <p:cNvPr id="27011728" name="Text 3"/>
          <p:cNvSpPr txBox="1"/>
          <p:nvPr/>
        </p:nvSpPr>
        <p:spPr bwMode="auto">
          <a:xfrm>
            <a:off x="822960" y="21488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900" b="1">
                <a:solidFill>
                  <a:srgbClr val="005A2B"/>
                </a:solidFill>
                <a:latin typeface="Arial"/>
                <a:ea typeface="Arial"/>
                <a:cs typeface="Arial"/>
              </a:rPr>
              <a:t>For Students</a:t>
            </a:r>
            <a:endParaRPr lang="en-US" sz="1900"/>
          </a:p>
        </p:txBody>
      </p:sp>
      <p:sp>
        <p:nvSpPr>
          <p:cNvPr id="908167141" name="Text 4"/>
          <p:cNvSpPr txBox="1"/>
          <p:nvPr/>
        </p:nvSpPr>
        <p:spPr bwMode="auto">
          <a:xfrm>
            <a:off x="822960" y="2788920"/>
            <a:ext cx="4572000" cy="274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200"/>
              </a:spcAft>
              <a:buSzPct val="100000"/>
              <a:buChar char="●"/>
              <a:defRPr/>
            </a:pPr>
            <a:r>
              <a:rPr lang="en-US" sz="1600">
                <a:solidFill>
                  <a:srgbClr val="1A2B22"/>
                </a:solidFill>
                <a:latin typeface="Arial"/>
                <a:ea typeface="Arial"/>
                <a:cs typeface="Arial"/>
              </a:rPr>
              <a:t>Faster registration process</a:t>
            </a:r>
            <a:endParaRPr lang="en-US" sz="1600"/>
          </a:p>
          <a:p>
            <a:pPr marL="228600" indent="-228600">
              <a:spcAft>
                <a:spcPts val="1200"/>
              </a:spcAft>
              <a:buSzPct val="100000"/>
              <a:buChar char="●"/>
              <a:defRPr/>
            </a:pPr>
            <a:r>
              <a:rPr lang="en-US" sz="1600">
                <a:solidFill>
                  <a:srgbClr val="1A2B22"/>
                </a:solidFill>
                <a:latin typeface="Arial"/>
                <a:ea typeface="Arial"/>
                <a:cs typeface="Arial"/>
              </a:rPr>
              <a:t>Clear record management</a:t>
            </a:r>
            <a:endParaRPr lang="en-US" sz="1600"/>
          </a:p>
          <a:p>
            <a:pPr marL="228600" indent="-228600">
              <a:spcAft>
                <a:spcPts val="1200"/>
              </a:spcAft>
              <a:buSzPct val="100000"/>
              <a:buChar char="●"/>
              <a:defRPr/>
            </a:pPr>
            <a:endParaRPr lang="en-US" sz="1600"/>
          </a:p>
        </p:txBody>
      </p:sp>
      <p:sp>
        <p:nvSpPr>
          <p:cNvPr id="241986048" name="Shape 5"/>
          <p:cNvSpPr/>
          <p:nvPr/>
        </p:nvSpPr>
        <p:spPr bwMode="auto">
          <a:xfrm>
            <a:off x="5943600" y="1920240"/>
            <a:ext cx="5120640" cy="3840480"/>
          </a:xfrm>
          <a:prstGeom prst="rect">
            <a:avLst/>
          </a:prstGeom>
          <a:solidFill>
            <a:srgbClr val="F8F9FA"/>
          </a:solidFill>
        </p:spPr>
      </p:sp>
      <p:sp>
        <p:nvSpPr>
          <p:cNvPr id="436676591" name="Text 6"/>
          <p:cNvSpPr txBox="1"/>
          <p:nvPr/>
        </p:nvSpPr>
        <p:spPr bwMode="auto">
          <a:xfrm>
            <a:off x="6217920" y="21488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900" b="1">
                <a:solidFill>
                  <a:srgbClr val="005A2B"/>
                </a:solidFill>
                <a:latin typeface="Arial"/>
                <a:ea typeface="Arial"/>
                <a:cs typeface="Arial"/>
              </a:rPr>
              <a:t>For Teachers &amp; Staff</a:t>
            </a:r>
            <a:endParaRPr lang="en-US" sz="1900"/>
          </a:p>
        </p:txBody>
      </p:sp>
      <p:sp>
        <p:nvSpPr>
          <p:cNvPr id="1846951835" name="Text 7"/>
          <p:cNvSpPr txBox="1"/>
          <p:nvPr/>
        </p:nvSpPr>
        <p:spPr bwMode="auto">
          <a:xfrm>
            <a:off x="6217920" y="2788920"/>
            <a:ext cx="4572000" cy="274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200"/>
              </a:spcAft>
              <a:buSzPct val="100000"/>
              <a:buChar char="●"/>
              <a:defRPr/>
            </a:pPr>
            <a:r>
              <a:rPr lang="en-US" sz="1600">
                <a:solidFill>
                  <a:srgbClr val="1A2B22"/>
                </a:solidFill>
                <a:latin typeface="Arial"/>
                <a:ea typeface="Arial"/>
                <a:cs typeface="Arial"/>
              </a:rPr>
              <a:t>Dedicated staff registration route (/DB/5)</a:t>
            </a:r>
            <a:endParaRPr lang="en-US" sz="1600"/>
          </a:p>
          <a:p>
            <a:pPr marL="228600" indent="-228600">
              <a:spcAft>
                <a:spcPts val="1200"/>
              </a:spcAft>
              <a:buSzPct val="100000"/>
              <a:buChar char="●"/>
              <a:defRPr/>
            </a:pPr>
            <a:r>
              <a:rPr lang="en-US" sz="1600">
                <a:solidFill>
                  <a:srgbClr val="1A2B22"/>
                </a:solidFill>
                <a:latin typeface="Arial"/>
                <a:ea typeface="Arial"/>
                <a:cs typeface="Arial"/>
              </a:rPr>
              <a:t>Automated student list management</a:t>
            </a:r>
            <a:endParaRPr lang="en-US" sz="1600"/>
          </a:p>
          <a:p>
            <a:pPr marL="228600" indent="-228600">
              <a:spcAft>
                <a:spcPts val="1200"/>
              </a:spcAft>
              <a:buSzPct val="100000"/>
              <a:buChar char="●"/>
              <a:defRPr/>
            </a:pPr>
            <a:r>
              <a:rPr lang="en-US" sz="1600">
                <a:solidFill>
                  <a:srgbClr val="1A2B22"/>
                </a:solidFill>
                <a:latin typeface="Arial"/>
                <a:ea typeface="Arial"/>
                <a:cs typeface="Arial"/>
              </a:rPr>
              <a:t>Instant access to accurate records, no complex authentication</a:t>
            </a:r>
            <a:endParaRPr lang="en-US" sz="1600">
              <a:solidFill>
                <a:srgbClr val="1A2B22"/>
              </a:solidFill>
              <a:latin typeface="Arial"/>
              <a:ea typeface="Arial"/>
              <a:cs typeface="Arial"/>
            </a:endParaRPr>
          </a:p>
          <a:p>
            <a:pPr marL="228600" indent="-228600">
              <a:spcAft>
                <a:spcPts val="1199"/>
              </a:spcAft>
              <a:buSzPct val="100000"/>
              <a:buChar char="●"/>
              <a:defRPr/>
            </a:pPr>
            <a:r>
              <a:rPr lang="en-US" sz="1600" b="0" i="0" u="none" strike="noStrike" cap="none" spc="0">
                <a:solidFill>
                  <a:srgbClr val="1A2B22"/>
                </a:solidFill>
                <a:latin typeface="Arial"/>
                <a:ea typeface="Arial"/>
                <a:cs typeface="Arial"/>
              </a:rPr>
              <a:t>Easy access to school portal updates using REGID</a:t>
            </a:r>
            <a:endParaRPr lang="en-US" sz="1600"/>
          </a:p>
        </p:txBody>
      </p:sp>
      <p:pic>
        <p:nvPicPr>
          <p:cNvPr id="1954798750" name="Image 0" descr="logo.jpg"/>
          <p:cNvPicPr>
            <a:picLocks noChangeAspect="1"/>
          </p:cNvPicPr>
          <p:nvPr/>
        </p:nvPicPr>
        <p:blipFill rotWithShape="1">
          <a:blip r:embed="rId3">
            <a:alphaModFix amt="95000"/>
          </a:blip>
          <a:stretch/>
        </p:blipFill>
        <p:spPr bwMode="auto">
          <a:xfrm>
            <a:off x="11137392" y="5806440"/>
            <a:ext cx="777240" cy="7772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159:morph option="byObject"/>
      </p:transition>
    </mc:Choice>
    <mc:Fallback>
      <p:transition spd="slow" advClick="1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428009" name="Text 0"/>
          <p:cNvSpPr txBox="1"/>
          <p:nvPr/>
        </p:nvSpPr>
        <p:spPr bwMode="auto"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spc="200">
                <a:solidFill>
                  <a:srgbClr val="D4A000"/>
                </a:solidFill>
                <a:latin typeface="Arial"/>
                <a:ea typeface="Arial"/>
                <a:cs typeface="Arial"/>
              </a:rPr>
              <a:t>TRY IT YOURSELF</a:t>
            </a:r>
            <a:endParaRPr lang="en-US" sz="1300"/>
          </a:p>
        </p:txBody>
      </p:sp>
      <p:sp>
        <p:nvSpPr>
          <p:cNvPr id="1276108789" name="Text 1"/>
          <p:cNvSpPr txBox="1"/>
          <p:nvPr/>
        </p:nvSpPr>
        <p:spPr bwMode="auto">
          <a:xfrm>
            <a:off x="548640" y="658368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005A2B"/>
                </a:solidFill>
                <a:latin typeface="Arial"/>
                <a:ea typeface="Arial"/>
                <a:cs typeface="Arial"/>
              </a:rPr>
              <a:t>System Live Preview / Workflow</a:t>
            </a:r>
            <a:endParaRPr lang="en-US" sz="3200"/>
          </a:p>
        </p:txBody>
      </p:sp>
      <p:sp>
        <p:nvSpPr>
          <p:cNvPr id="384717913" name="Shape 2"/>
          <p:cNvSpPr/>
          <p:nvPr/>
        </p:nvSpPr>
        <p:spPr bwMode="auto">
          <a:xfrm>
            <a:off x="548640" y="2103120"/>
            <a:ext cx="3291840" cy="3108960"/>
          </a:xfrm>
          <a:prstGeom prst="rect">
            <a:avLst/>
          </a:prstGeom>
          <a:solidFill>
            <a:srgbClr val="F8F9FA"/>
          </a:solidFill>
        </p:spPr>
      </p:sp>
      <p:sp>
        <p:nvSpPr>
          <p:cNvPr id="270539457" name="Shape 3"/>
          <p:cNvSpPr/>
          <p:nvPr/>
        </p:nvSpPr>
        <p:spPr bwMode="auto">
          <a:xfrm>
            <a:off x="1874520" y="2423160"/>
            <a:ext cx="640080" cy="640080"/>
          </a:xfrm>
          <a:prstGeom prst="ellipse">
            <a:avLst/>
          </a:prstGeom>
          <a:solidFill>
            <a:srgbClr val="005A2B"/>
          </a:solidFill>
        </p:spPr>
      </p:sp>
      <p:sp>
        <p:nvSpPr>
          <p:cNvPr id="1491094444" name="Text 4"/>
          <p:cNvSpPr txBox="1"/>
          <p:nvPr/>
        </p:nvSpPr>
        <p:spPr bwMode="auto">
          <a:xfrm>
            <a:off x="1874520" y="242316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endParaRPr lang="en-US" sz="2200"/>
          </a:p>
        </p:txBody>
      </p:sp>
      <p:sp>
        <p:nvSpPr>
          <p:cNvPr id="1042447052" name="Text 5"/>
          <p:cNvSpPr txBox="1"/>
          <p:nvPr/>
        </p:nvSpPr>
        <p:spPr bwMode="auto">
          <a:xfrm>
            <a:off x="822960" y="3291840"/>
            <a:ext cx="274320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>
                <a:solidFill>
                  <a:srgbClr val="1A2B22"/>
                </a:solidFill>
                <a:latin typeface="Arial"/>
                <a:ea typeface="Arial"/>
                <a:cs typeface="Arial"/>
              </a:rPr>
              <a:t>Access the portal at gaminireg123.up.railway.app</a:t>
            </a:r>
            <a:endParaRPr lang="en-US" sz="1500"/>
          </a:p>
        </p:txBody>
      </p:sp>
      <p:sp>
        <p:nvSpPr>
          <p:cNvPr id="1735568798" name="Shape 6"/>
          <p:cNvSpPr/>
          <p:nvPr/>
        </p:nvSpPr>
        <p:spPr bwMode="auto">
          <a:xfrm>
            <a:off x="4160519" y="2103120"/>
            <a:ext cx="3291840" cy="3108960"/>
          </a:xfrm>
          <a:prstGeom prst="rect">
            <a:avLst/>
          </a:prstGeom>
          <a:solidFill>
            <a:srgbClr val="F8F9FA"/>
          </a:solidFill>
        </p:spPr>
      </p:sp>
      <p:sp>
        <p:nvSpPr>
          <p:cNvPr id="352013614" name="Shape 7"/>
          <p:cNvSpPr/>
          <p:nvPr/>
        </p:nvSpPr>
        <p:spPr bwMode="auto">
          <a:xfrm>
            <a:off x="5486400" y="2423160"/>
            <a:ext cx="640080" cy="640080"/>
          </a:xfrm>
          <a:prstGeom prst="ellipse">
            <a:avLst/>
          </a:prstGeom>
          <a:solidFill>
            <a:srgbClr val="005A2B"/>
          </a:solidFill>
        </p:spPr>
      </p:sp>
      <p:sp>
        <p:nvSpPr>
          <p:cNvPr id="1298885672" name="Text 8"/>
          <p:cNvSpPr txBox="1"/>
          <p:nvPr/>
        </p:nvSpPr>
        <p:spPr bwMode="auto">
          <a:xfrm>
            <a:off x="5486400" y="242316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lang="en-US" sz="2200"/>
          </a:p>
        </p:txBody>
      </p:sp>
      <p:sp>
        <p:nvSpPr>
          <p:cNvPr id="2073873137" name="Text 9"/>
          <p:cNvSpPr txBox="1"/>
          <p:nvPr/>
        </p:nvSpPr>
        <p:spPr bwMode="auto">
          <a:xfrm>
            <a:off x="4434840" y="3291840"/>
            <a:ext cx="274320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>
                <a:solidFill>
                  <a:srgbClr val="1A2B22"/>
                </a:solidFill>
                <a:latin typeface="Arial"/>
                <a:ea typeface="Arial"/>
                <a:cs typeface="Arial"/>
              </a:rPr>
              <a:t>Input your REGID to view or register details</a:t>
            </a:r>
            <a:endParaRPr lang="en-US" sz="1500"/>
          </a:p>
        </p:txBody>
      </p:sp>
      <p:sp>
        <p:nvSpPr>
          <p:cNvPr id="194544883" name="Shape 10"/>
          <p:cNvSpPr/>
          <p:nvPr/>
        </p:nvSpPr>
        <p:spPr bwMode="auto">
          <a:xfrm>
            <a:off x="7772400" y="2103120"/>
            <a:ext cx="3291840" cy="3108960"/>
          </a:xfrm>
          <a:prstGeom prst="rect">
            <a:avLst/>
          </a:prstGeom>
          <a:solidFill>
            <a:srgbClr val="F8F9FA"/>
          </a:solidFill>
        </p:spPr>
      </p:sp>
      <p:sp>
        <p:nvSpPr>
          <p:cNvPr id="2033543393" name="Shape 11"/>
          <p:cNvSpPr/>
          <p:nvPr/>
        </p:nvSpPr>
        <p:spPr bwMode="auto">
          <a:xfrm>
            <a:off x="9098280" y="2423160"/>
            <a:ext cx="640080" cy="640080"/>
          </a:xfrm>
          <a:prstGeom prst="ellipse">
            <a:avLst/>
          </a:prstGeom>
          <a:solidFill>
            <a:srgbClr val="005A2B"/>
          </a:solidFill>
        </p:spPr>
      </p:sp>
      <p:sp>
        <p:nvSpPr>
          <p:cNvPr id="1235937807" name="Text 12"/>
          <p:cNvSpPr txBox="1"/>
          <p:nvPr/>
        </p:nvSpPr>
        <p:spPr bwMode="auto">
          <a:xfrm>
            <a:off x="9098280" y="242316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lang="en-US" sz="2200"/>
          </a:p>
        </p:txBody>
      </p:sp>
      <p:sp>
        <p:nvSpPr>
          <p:cNvPr id="650139194" name="Text 13"/>
          <p:cNvSpPr txBox="1"/>
          <p:nvPr/>
        </p:nvSpPr>
        <p:spPr bwMode="auto">
          <a:xfrm>
            <a:off x="8046720" y="3291840"/>
            <a:ext cx="274320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500">
                <a:solidFill>
                  <a:srgbClr val="1A2B22"/>
                </a:solidFill>
                <a:latin typeface="Arial"/>
                <a:ea typeface="Arial"/>
                <a:cs typeface="Arial"/>
              </a:rPr>
              <a:t>Use the interactive dashboard for instant record updates</a:t>
            </a:r>
            <a:endParaRPr lang="en-US" sz="1500"/>
          </a:p>
        </p:txBody>
      </p:sp>
      <p:pic>
        <p:nvPicPr>
          <p:cNvPr id="1166835940" name="Image 0" descr="logo.jpg"/>
          <p:cNvPicPr>
            <a:picLocks noChangeAspect="1"/>
          </p:cNvPicPr>
          <p:nvPr/>
        </p:nvPicPr>
        <p:blipFill rotWithShape="1">
          <a:blip r:embed="rId3">
            <a:alphaModFix amt="95000"/>
          </a:blip>
          <a:stretch/>
        </p:blipFill>
        <p:spPr bwMode="auto">
          <a:xfrm>
            <a:off x="11137392" y="5806440"/>
            <a:ext cx="777240" cy="7772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159:morph option="byObject"/>
      </p:transition>
    </mc:Choice>
    <mc:Fallback>
      <p:transition spd="slow" advClick="1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1199231" name="Text 0"/>
          <p:cNvSpPr txBox="1"/>
          <p:nvPr/>
        </p:nvSpPr>
        <p:spPr bwMode="auto"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spc="200">
                <a:solidFill>
                  <a:srgbClr val="D4A000"/>
                </a:solidFill>
                <a:latin typeface="Arial"/>
                <a:ea typeface="Arial"/>
                <a:cs typeface="Arial"/>
              </a:rPr>
              <a:t>LOOKING AHEAD</a:t>
            </a:r>
            <a:endParaRPr lang="en-US" sz="1300"/>
          </a:p>
        </p:txBody>
      </p:sp>
      <p:sp>
        <p:nvSpPr>
          <p:cNvPr id="2076494805" name="Text 1"/>
          <p:cNvSpPr txBox="1"/>
          <p:nvPr/>
        </p:nvSpPr>
        <p:spPr bwMode="auto">
          <a:xfrm>
            <a:off x="548640" y="658368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200" b="1">
                <a:solidFill>
                  <a:srgbClr val="005A2B"/>
                </a:solidFill>
                <a:latin typeface="Arial"/>
                <a:ea typeface="Arial"/>
                <a:cs typeface="Arial"/>
              </a:rPr>
              <a:t>Future Roadmap &amp; Next Steps</a:t>
            </a:r>
            <a:endParaRPr lang="en-US" sz="3200"/>
          </a:p>
        </p:txBody>
      </p:sp>
      <p:sp>
        <p:nvSpPr>
          <p:cNvPr id="788284951" name="Text 2"/>
          <p:cNvSpPr txBox="1"/>
          <p:nvPr/>
        </p:nvSpPr>
        <p:spPr bwMode="auto">
          <a:xfrm>
            <a:off x="548640" y="1828800"/>
            <a:ext cx="10515600" cy="2011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54000" indent="-254000">
              <a:spcAft>
                <a:spcPts val="1400"/>
              </a:spcAft>
              <a:buSzPct val="100000"/>
              <a:buChar char="●"/>
              <a:defRPr/>
            </a:pPr>
            <a:r>
              <a:rPr lang="en-US" sz="2000">
                <a:solidFill>
                  <a:srgbClr val="1A2B22"/>
                </a:solidFill>
                <a:latin typeface="Arial"/>
                <a:ea typeface="Arial"/>
                <a:cs typeface="Arial"/>
              </a:rPr>
              <a:t>Expanded module features and class management</a:t>
            </a:r>
            <a:endParaRPr lang="en-US" sz="2000"/>
          </a:p>
          <a:p>
            <a:pPr marL="254000" indent="-254000">
              <a:spcAft>
                <a:spcPts val="1400"/>
              </a:spcAft>
              <a:buSzPct val="100000"/>
              <a:buChar char="●"/>
              <a:defRPr/>
            </a:pPr>
            <a:r>
              <a:rPr lang="en-US" sz="2000">
                <a:solidFill>
                  <a:srgbClr val="1A2B22"/>
                </a:solidFill>
                <a:latin typeface="Arial"/>
                <a:ea typeface="Arial"/>
                <a:cs typeface="Arial"/>
              </a:rPr>
              <a:t>Performance optimizations and UI enhancements</a:t>
            </a:r>
            <a:endParaRPr lang="en-US" sz="2000"/>
          </a:p>
          <a:p>
            <a:pPr marL="254000" indent="-254000">
              <a:spcAft>
                <a:spcPts val="1400"/>
              </a:spcAft>
              <a:buSzPct val="100000"/>
              <a:buChar char="●"/>
              <a:defRPr/>
            </a:pPr>
            <a:r>
              <a:rPr lang="en-US" sz="2000">
                <a:solidFill>
                  <a:srgbClr val="1A2B22"/>
                </a:solidFill>
                <a:latin typeface="Arial"/>
                <a:ea typeface="Arial"/>
                <a:cs typeface="Arial"/>
              </a:rPr>
              <a:t>Full school-wide rollout timeline</a:t>
            </a:r>
            <a:endParaRPr lang="en-US" sz="2000"/>
          </a:p>
        </p:txBody>
      </p:sp>
      <p:sp>
        <p:nvSpPr>
          <p:cNvPr id="1823021681" name="Shape 3"/>
          <p:cNvSpPr/>
          <p:nvPr/>
        </p:nvSpPr>
        <p:spPr bwMode="auto">
          <a:xfrm>
            <a:off x="548640" y="4297680"/>
            <a:ext cx="10515600" cy="1097280"/>
          </a:xfrm>
          <a:prstGeom prst="rect">
            <a:avLst/>
          </a:prstGeom>
          <a:solidFill>
            <a:srgbClr val="005A2B"/>
          </a:solidFill>
        </p:spPr>
      </p:sp>
      <p:sp>
        <p:nvSpPr>
          <p:cNvPr id="1892403537" name="Shape 4"/>
          <p:cNvSpPr/>
          <p:nvPr/>
        </p:nvSpPr>
        <p:spPr bwMode="auto">
          <a:xfrm>
            <a:off x="548640" y="4297680"/>
            <a:ext cx="91440" cy="1097280"/>
          </a:xfrm>
          <a:prstGeom prst="rect">
            <a:avLst/>
          </a:prstGeom>
          <a:solidFill>
            <a:srgbClr val="F5B800"/>
          </a:solidFill>
        </p:spPr>
      </p:sp>
      <p:sp>
        <p:nvSpPr>
          <p:cNvPr id="586503954" name="Text 5"/>
          <p:cNvSpPr txBox="1"/>
          <p:nvPr/>
        </p:nvSpPr>
        <p:spPr bwMode="auto">
          <a:xfrm>
            <a:off x="868680" y="4297680"/>
            <a:ext cx="99669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invite every student and staff member to adopt the digital platform.</a:t>
            </a:r>
            <a:endParaRPr lang="en-US" sz="1800"/>
          </a:p>
        </p:txBody>
      </p:sp>
      <p:pic>
        <p:nvPicPr>
          <p:cNvPr id="1460999832" name="Image 0" descr="logo.jpg"/>
          <p:cNvPicPr>
            <a:picLocks noChangeAspect="1"/>
          </p:cNvPicPr>
          <p:nvPr/>
        </p:nvPicPr>
        <p:blipFill rotWithShape="1">
          <a:blip r:embed="rId3">
            <a:alphaModFix amt="95000"/>
          </a:blip>
          <a:stretch/>
        </p:blipFill>
        <p:spPr bwMode="auto">
          <a:xfrm>
            <a:off x="11137392" y="5806440"/>
            <a:ext cx="777240" cy="7772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159:morph option="byObject"/>
      </p:transition>
    </mc:Choice>
    <mc:Fallback>
      <p:transition spd="slow" advClick="1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rgbClr val="F8F9F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224445" name="Image 0" descr="logo.jp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408676" y="685800"/>
            <a:ext cx="1371600" cy="1371600"/>
          </a:xfrm>
          <a:prstGeom prst="rect">
            <a:avLst/>
          </a:prstGeom>
        </p:spPr>
      </p:pic>
      <p:sp>
        <p:nvSpPr>
          <p:cNvPr id="276454913" name="Text 0"/>
          <p:cNvSpPr txBox="1"/>
          <p:nvPr/>
        </p:nvSpPr>
        <p:spPr bwMode="auto">
          <a:xfrm>
            <a:off x="731520" y="2286000"/>
            <a:ext cx="10725912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3200" b="1">
                <a:solidFill>
                  <a:srgbClr val="005A2B"/>
                </a:solidFill>
                <a:latin typeface="Arial"/>
                <a:ea typeface="Arial"/>
                <a:cs typeface="Arial"/>
              </a:rPr>
              <a:t>Conclusion &amp; Q&amp;A</a:t>
            </a:r>
            <a:endParaRPr lang="en-US" sz="3200"/>
          </a:p>
        </p:txBody>
      </p:sp>
      <p:sp>
        <p:nvSpPr>
          <p:cNvPr id="1156342030" name="Text 1"/>
          <p:cNvSpPr txBox="1"/>
          <p:nvPr/>
        </p:nvSpPr>
        <p:spPr bwMode="auto">
          <a:xfrm>
            <a:off x="914400" y="3063240"/>
            <a:ext cx="10360152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000" b="1" i="1">
                <a:solidFill>
                  <a:srgbClr val="D4A000"/>
                </a:solidFill>
                <a:latin typeface="Arial"/>
                <a:ea typeface="Arial"/>
                <a:cs typeface="Arial"/>
              </a:rPr>
              <a:t>"Innovating Today for a Smarter School Tomorrow."</a:t>
            </a:r>
            <a:endParaRPr lang="en-US" sz="2000"/>
          </a:p>
        </p:txBody>
      </p:sp>
      <p:sp>
        <p:nvSpPr>
          <p:cNvPr id="1153055604" name="Text 2"/>
          <p:cNvSpPr txBox="1"/>
          <p:nvPr/>
        </p:nvSpPr>
        <p:spPr bwMode="auto">
          <a:xfrm>
            <a:off x="914400" y="3840480"/>
            <a:ext cx="103601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>
                <a:solidFill>
                  <a:srgbClr val="1A2B22"/>
                </a:solidFill>
                <a:latin typeface="Arial"/>
                <a:ea typeface="Arial"/>
                <a:cs typeface="Arial"/>
              </a:rPr>
              <a:t>Thank you to our Principal, Teachers, and Students.</a:t>
            </a:r>
            <a:endParaRPr lang="en-US" sz="1600"/>
          </a:p>
        </p:txBody>
      </p:sp>
      <p:sp>
        <p:nvSpPr>
          <p:cNvPr id="1585999849" name="Text 3"/>
          <p:cNvSpPr txBox="1"/>
          <p:nvPr/>
        </p:nvSpPr>
        <p:spPr bwMode="auto">
          <a:xfrm>
            <a:off x="914400" y="4434840"/>
            <a:ext cx="10360152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005A2B"/>
                </a:solidFill>
                <a:latin typeface="Arial"/>
                <a:ea typeface="Arial"/>
                <a:cs typeface="Arial"/>
              </a:rPr>
              <a:t>Mihitha Isiwara &amp; Tasheen Dilshara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159:morph option="byObject"/>
      </p:transition>
    </mc:Choice>
    <mc:Fallback>
      <p:transition spd="slow" advClick="1">
        <p:fade/>
      </p:transition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9</Slides>
  <Notes>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/>
  <cp:revision>3</cp:revision>
  <dcterms:created xsi:type="dcterms:W3CDTF">2026-09-25T09:56:00Z</dcterms:created>
  <dcterms:modified xsi:type="dcterms:W3CDTF">2026-09-28T18:11:00Z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A46ECBFB11A04767AEF60319C984F122_12</vt:lpwstr>
  </property>
</Properties>
</file>